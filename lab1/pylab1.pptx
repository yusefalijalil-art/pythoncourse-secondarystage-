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313" r:id="rId3"/>
    <p:sldId id="316" r:id="rId4"/>
    <p:sldId id="322" r:id="rId5"/>
    <p:sldId id="319" r:id="rId6"/>
    <p:sldId id="323" r:id="rId7"/>
    <p:sldId id="324" r:id="rId8"/>
    <p:sldId id="327" r:id="rId9"/>
    <p:sldId id="328" r:id="rId10"/>
    <p:sldId id="325" r:id="rId11"/>
    <p:sldId id="326" r:id="rId12"/>
    <p:sldId id="320" r:id="rId13"/>
    <p:sldId id="308" r:id="rId14"/>
  </p:sldIdLst>
  <p:sldSz cx="9144000" cy="5143500" type="screen16x9"/>
  <p:notesSz cx="6858000" cy="9144000"/>
  <p:embeddedFontLst>
    <p:embeddedFont>
      <p:font typeface="Cairo" pitchFamily="2" charset="-78"/>
      <p:regular r:id="rId16"/>
      <p:bold r:id="rId17"/>
    </p:embeddedFont>
    <p:embeddedFont>
      <p:font typeface="Overpass Mono" panose="020B0604020202020204" charset="0"/>
      <p:regular r:id="rId18"/>
      <p:bold r:id="rId19"/>
    </p:embeddedFont>
    <p:embeddedFont>
      <p:font typeface="Anaheim" panose="020B0604020202020204" charset="0"/>
      <p:regular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 Jalil" initials="AJ" lastIdx="1" clrIdx="0">
    <p:extLst>
      <p:ext uri="{19B8F6BF-5375-455C-9EA6-DF929625EA0E}">
        <p15:presenceInfo xmlns:p15="http://schemas.microsoft.com/office/powerpoint/2012/main" userId="Ali Jali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B4F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5DDA54-0BFC-4101-B65C-4CA725EEDA50}">
  <a:tblStyle styleId="{465DDA54-0BFC-4101-B65C-4CA725EEDA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8E9E3E1-9F42-4482-A1B5-2EE76CD6347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90617" autoAdjust="0"/>
  </p:normalViewPr>
  <p:slideViewPr>
    <p:cSldViewPr snapToGrid="0">
      <p:cViewPr>
        <p:scale>
          <a:sx n="84" d="100"/>
          <a:sy n="84" d="100"/>
        </p:scale>
        <p:origin x="664" y="60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7T11:27:56.175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1729668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858332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3705566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537660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3826032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7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>
                <a:latin typeface="Cairo" pitchFamily="2" charset="-78"/>
                <a:cs typeface="Cairo" pitchFamily="2" charset="-78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 dirty="0"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Cairo" pitchFamily="2" charset="-78"/>
                <a:cs typeface="Cairo" pitchFamily="2" charset="-78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Cairo" pitchFamily="2" charset="-78"/>
                <a:cs typeface="Cairo" pitchFamily="2" charset="-78"/>
              </a:defRPr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2751806" y="4243474"/>
            <a:ext cx="6391269" cy="904876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361250" y="1501127"/>
            <a:ext cx="7781825" cy="1525098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12"/>
          <p:cNvSpPr/>
          <p:nvPr/>
        </p:nvSpPr>
        <p:spPr>
          <a:xfrm rot="10800000">
            <a:off x="2" y="1"/>
            <a:ext cx="5791098" cy="505550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1" y="1501871"/>
            <a:ext cx="1104138" cy="355443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" name="Google Shape;153;p12"/>
          <p:cNvSpPr/>
          <p:nvPr/>
        </p:nvSpPr>
        <p:spPr>
          <a:xfrm rot="10800000">
            <a:off x="532482" y="912524"/>
            <a:ext cx="1055445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12"/>
          <p:cNvSpPr/>
          <p:nvPr/>
        </p:nvSpPr>
        <p:spPr>
          <a:xfrm rot="10800000">
            <a:off x="7173125" y="912516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" name="Google Shape;155;p12"/>
          <p:cNvSpPr/>
          <p:nvPr/>
        </p:nvSpPr>
        <p:spPr>
          <a:xfrm rot="10800000">
            <a:off x="1814348" y="912516"/>
            <a:ext cx="1600139" cy="35531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12"/>
          <p:cNvSpPr/>
          <p:nvPr/>
        </p:nvSpPr>
        <p:spPr>
          <a:xfrm rot="10800000">
            <a:off x="4523560" y="323049"/>
            <a:ext cx="2095515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12"/>
          <p:cNvSpPr/>
          <p:nvPr/>
        </p:nvSpPr>
        <p:spPr>
          <a:xfrm rot="10800000">
            <a:off x="7381057" y="3345678"/>
            <a:ext cx="1762943" cy="355322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4" y="2084924"/>
            <a:ext cx="178555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12"/>
          <p:cNvSpPr/>
          <p:nvPr/>
        </p:nvSpPr>
        <p:spPr>
          <a:xfrm rot="10800000">
            <a:off x="656319" y="4788199"/>
            <a:ext cx="2628881" cy="3553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2500">
                <a:latin typeface="Cairo" pitchFamily="2" charset="-78"/>
                <a:cs typeface="Cairo" pitchFamily="2" charset="-78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rPr dirty="0"/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iro" pitchFamily="2" charset="-78"/>
          <a:ea typeface="Cairo" pitchFamily="2" charset="-78"/>
          <a:cs typeface="Cairo" pitchFamily="2" charset="-78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iro" pitchFamily="2" charset="-78"/>
          <a:ea typeface="Cairo" pitchFamily="2" charset="-78"/>
          <a:cs typeface="Cairo" pitchFamily="2" charset="-78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Cairo" pitchFamily="2" charset="-78"/>
                <a:cs typeface="Cairo" pitchFamily="2" charset="-78"/>
              </a:rPr>
              <a:t>programming</a:t>
            </a:r>
            <a:endParaRPr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 smtClean="0">
                <a:solidFill>
                  <a:schemeClr val="dk2"/>
                </a:solidFill>
              </a:rPr>
              <a:t>With python</a:t>
            </a:r>
          </a:p>
          <a:p>
            <a:pPr marL="0" indent="0"/>
            <a:r>
              <a:rPr lang="en-US" b="1" i="1" dirty="0">
                <a:solidFill>
                  <a:schemeClr val="accent6"/>
                </a:solidFill>
              </a:rPr>
              <a:t>(</a:t>
            </a:r>
            <a:r>
              <a:rPr lang="en-US" b="1" dirty="0">
                <a:solidFill>
                  <a:schemeClr val="accent6"/>
                </a:solidFill>
              </a:rPr>
              <a:t>Lab - </a:t>
            </a:r>
            <a:r>
              <a:rPr lang="en-US" b="1" dirty="0" smtClean="0">
                <a:solidFill>
                  <a:schemeClr val="accent6"/>
                </a:solidFill>
              </a:rPr>
              <a:t>1</a:t>
            </a:r>
            <a:r>
              <a:rPr lang="en-US" b="1" i="1" dirty="0" smtClean="0">
                <a:solidFill>
                  <a:schemeClr val="accent6"/>
                </a:solidFill>
              </a:rPr>
              <a:t>)</a:t>
            </a:r>
            <a:endParaRPr lang="en-US" b="1" i="1" dirty="0">
              <a:solidFill>
                <a:schemeClr val="accent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32540" y="-271738"/>
            <a:ext cx="2702049" cy="27020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050" y="3396100"/>
            <a:ext cx="508240" cy="5082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59">
        <p14:prism/>
      </p:transition>
    </mc:Choice>
    <mc:Fallback xmlns="">
      <p:transition spd="slow" advTm="35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" grpId="0"/>
      <p:bldP spid="33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Hello </a:t>
            </a:r>
            <a:r>
              <a:rPr lang="en-US" dirty="0"/>
              <a:t>World &amp; Running Python</a:t>
            </a:r>
          </a:p>
          <a:p>
            <a:endParaRPr lang="ar-IQ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err="1" smtClean="0"/>
              <a:t>Exmaple</a:t>
            </a:r>
            <a:r>
              <a:rPr lang="en-US" sz="7200" dirty="0" smtClean="0"/>
              <a:t> 1</a:t>
            </a:r>
            <a:endParaRPr lang="ar-IQ" sz="7200" dirty="0"/>
          </a:p>
        </p:txBody>
      </p:sp>
    </p:spTree>
    <p:extLst>
      <p:ext uri="{BB962C8B-B14F-4D97-AF65-F5344CB8AC3E}">
        <p14:creationId xmlns:p14="http://schemas.microsoft.com/office/powerpoint/2010/main" val="327749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242">
        <p14:prism/>
      </p:transition>
    </mc:Choice>
    <mc:Fallback xmlns="">
      <p:transition spd="slow" advTm="224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1389191" y="816709"/>
            <a:ext cx="48345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0F0"/>
                </a:solidFill>
              </a:defRPr>
            </a:pPr>
            <a:r>
              <a:rPr dirty="0"/>
              <a:t>01. </a:t>
            </a:r>
            <a:r>
              <a:rPr lang="en-US" dirty="0" smtClean="0"/>
              <a:t>Hello world program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First step in Python.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Using print() function.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Running a text output.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1463040"/>
            <a:ext cx="42976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0" y="1463040"/>
            <a:ext cx="4114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200" b="1">
                <a:solidFill>
                  <a:srgbClr val="00B0F0"/>
                </a:solidFill>
              </a:defRPr>
            </a:pPr>
            <a:r>
              <a:rPr lang="en-US" dirty="0"/>
              <a:t>#</a:t>
            </a:r>
            <a:r>
              <a:rPr lang="en-US" dirty="0" smtClean="0"/>
              <a:t> show massage to the user “hello world!!”</a:t>
            </a:r>
            <a:endParaRPr dirty="0"/>
          </a:p>
          <a:p>
            <a:pPr>
              <a:defRPr sz="1400">
                <a:solidFill>
                  <a:srgbClr val="B4FFB4"/>
                </a:solidFill>
                <a:latin typeface="Consolas"/>
              </a:defRPr>
            </a:pPr>
            <a:r>
              <a:rPr dirty="0"/>
              <a:t>print("hello world!!")</a:t>
            </a:r>
          </a:p>
        </p:txBody>
      </p:sp>
    </p:spTree>
    <p:extLst>
      <p:ext uri="{BB962C8B-B14F-4D97-AF65-F5344CB8AC3E}">
        <p14:creationId xmlns:p14="http://schemas.microsoft.com/office/powerpoint/2010/main" val="370785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Two Numbers</a:t>
            </a:r>
            <a:endParaRPr lang="ar-IQ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err="1" smtClean="0"/>
              <a:t>Exmaple</a:t>
            </a:r>
            <a:r>
              <a:rPr lang="en-US" sz="7200" dirty="0" smtClean="0"/>
              <a:t> 2</a:t>
            </a:r>
            <a:endParaRPr lang="ar-IQ" sz="7200" dirty="0"/>
          </a:p>
        </p:txBody>
      </p:sp>
    </p:spTree>
    <p:extLst>
      <p:ext uri="{BB962C8B-B14F-4D97-AF65-F5344CB8AC3E}">
        <p14:creationId xmlns:p14="http://schemas.microsoft.com/office/powerpoint/2010/main" val="157109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242">
        <p14:prism/>
      </p:transition>
    </mc:Choice>
    <mc:Fallback xmlns="">
      <p:transition spd="slow" advTm="224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86840" y="725269"/>
            <a:ext cx="523252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0F0"/>
                </a:solidFill>
              </a:defRPr>
            </a:pPr>
            <a:r>
              <a:rPr dirty="0" smtClean="0"/>
              <a:t>02. </a:t>
            </a:r>
            <a:r>
              <a:rPr lang="en-US" sz="3600" b="1" dirty="0"/>
              <a:t>Add Two Numbers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Reading User Inputs.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Converting to Float.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Mathematical Addition.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42976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4114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 smtClean="0"/>
          </a:p>
          <a:p>
            <a:pPr>
              <a:defRPr sz="1400">
                <a:solidFill>
                  <a:srgbClr val="B4FFB4"/>
                </a:solidFill>
                <a:latin typeface="Consolas"/>
              </a:defRPr>
            </a:pPr>
            <a:r>
              <a:rPr lang="en-US" dirty="0" smtClean="0">
                <a:solidFill>
                  <a:srgbClr val="00B0F0"/>
                </a:solidFill>
              </a:rPr>
              <a:t># </a:t>
            </a:r>
            <a:r>
              <a:rPr lang="en-US" dirty="0">
                <a:solidFill>
                  <a:srgbClr val="00B0F0"/>
                </a:solidFill>
              </a:rPr>
              <a:t>Read two numbers from user</a:t>
            </a:r>
          </a:p>
          <a:p>
            <a:r>
              <a:rPr lang="en-US" dirty="0">
                <a:solidFill>
                  <a:srgbClr val="B4FFB4"/>
                </a:solidFill>
              </a:rPr>
              <a:t> num1 = float(input("Enter first number: "))</a:t>
            </a:r>
          </a:p>
          <a:p>
            <a:r>
              <a:rPr lang="en-US" dirty="0">
                <a:solidFill>
                  <a:srgbClr val="B4FFB4"/>
                </a:solidFill>
              </a:rPr>
              <a:t> num2 = float(input("Enter second number: </a:t>
            </a:r>
            <a:r>
              <a:rPr lang="en-US" dirty="0" smtClean="0">
                <a:solidFill>
                  <a:srgbClr val="B4FFB4"/>
                </a:solidFill>
              </a:rPr>
              <a:t>"))</a:t>
            </a:r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 # Addition operation</a:t>
            </a:r>
          </a:p>
          <a:p>
            <a:r>
              <a:rPr lang="en-US" dirty="0">
                <a:solidFill>
                  <a:srgbClr val="B4FFB4"/>
                </a:solidFill>
              </a:rPr>
              <a:t> </a:t>
            </a:r>
            <a:r>
              <a:rPr lang="en-US" dirty="0" err="1">
                <a:solidFill>
                  <a:srgbClr val="B4FFB4"/>
                </a:solidFill>
              </a:rPr>
              <a:t>sum_result</a:t>
            </a:r>
            <a:r>
              <a:rPr lang="en-US" dirty="0">
                <a:solidFill>
                  <a:srgbClr val="B4FFB4"/>
                </a:solidFill>
              </a:rPr>
              <a:t> = num1 + </a:t>
            </a:r>
            <a:r>
              <a:rPr lang="en-US" dirty="0" smtClean="0">
                <a:solidFill>
                  <a:srgbClr val="B4FFB4"/>
                </a:solidFill>
              </a:rPr>
              <a:t>num2</a:t>
            </a:r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 # Display result</a:t>
            </a:r>
          </a:p>
          <a:p>
            <a:r>
              <a:rPr lang="en-US" dirty="0">
                <a:solidFill>
                  <a:srgbClr val="B4FFB4"/>
                </a:solidFill>
              </a:rPr>
              <a:t> print("The sum is:", </a:t>
            </a:r>
            <a:r>
              <a:rPr lang="en-US" dirty="0" err="1">
                <a:solidFill>
                  <a:srgbClr val="B4FFB4"/>
                </a:solidFill>
              </a:rPr>
              <a:t>sum_result</a:t>
            </a:r>
            <a:r>
              <a:rPr lang="en-US" dirty="0">
                <a:solidFill>
                  <a:srgbClr val="B4FFB4"/>
                </a:solidFill>
              </a:rPr>
              <a:t>)</a:t>
            </a:r>
          </a:p>
          <a:p>
            <a:pPr>
              <a:defRPr sz="1400">
                <a:solidFill>
                  <a:srgbClr val="B4FFB4"/>
                </a:solidFill>
                <a:latin typeface="Consola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411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Two Numbers</a:t>
            </a:r>
            <a:endParaRPr lang="ar-IQ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err="1" smtClean="0"/>
              <a:t>Exmaple</a:t>
            </a:r>
            <a:r>
              <a:rPr lang="en-US" sz="7200" dirty="0" smtClean="0"/>
              <a:t> 3</a:t>
            </a:r>
            <a:endParaRPr lang="ar-IQ" sz="7200" dirty="0"/>
          </a:p>
        </p:txBody>
      </p:sp>
    </p:spTree>
    <p:extLst>
      <p:ext uri="{BB962C8B-B14F-4D97-AF65-F5344CB8AC3E}">
        <p14:creationId xmlns:p14="http://schemas.microsoft.com/office/powerpoint/2010/main" val="3121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242">
        <p14:prism/>
      </p:transition>
    </mc:Choice>
    <mc:Fallback xmlns="">
      <p:transition spd="slow" advTm="224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86840" y="725269"/>
            <a:ext cx="56989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0F0"/>
                </a:solidFill>
              </a:defRPr>
            </a:pPr>
            <a:r>
              <a:rPr lang="en-US" dirty="0" smtClean="0"/>
              <a:t>03.</a:t>
            </a:r>
            <a:r>
              <a:rPr lang="en-US" sz="3600" b="1" dirty="0"/>
              <a:t> Calculate Circle Area</a:t>
            </a:r>
            <a:r>
              <a:rPr lang="ar-IQ" dirty="0" smtClean="0"/>
              <a:t> 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/>
              <a:t>• Using Constant PI.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/>
              <a:t>• Circle Area Formula.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/>
              <a:t>• Square operation.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42976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41148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 smtClean="0">
              <a:solidFill>
                <a:srgbClr val="B4FFB4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# Constant PI</a:t>
            </a:r>
          </a:p>
          <a:p>
            <a:r>
              <a:rPr lang="en-US" dirty="0">
                <a:solidFill>
                  <a:srgbClr val="B4FFB4"/>
                </a:solidFill>
              </a:rPr>
              <a:t> PI = 3.14159</a:t>
            </a:r>
          </a:p>
          <a:p>
            <a:r>
              <a:rPr lang="en-US" dirty="0">
                <a:solidFill>
                  <a:srgbClr val="B4FFB4"/>
                </a:solidFill>
              </a:rPr>
              <a:t> </a:t>
            </a:r>
          </a:p>
          <a:p>
            <a:r>
              <a:rPr lang="en-US" dirty="0">
                <a:solidFill>
                  <a:srgbClr val="00B0F0"/>
                </a:solidFill>
              </a:rPr>
              <a:t> # Read radius from user</a:t>
            </a:r>
          </a:p>
          <a:p>
            <a:r>
              <a:rPr lang="en-US" dirty="0">
                <a:solidFill>
                  <a:srgbClr val="B4FFB4"/>
                </a:solidFill>
              </a:rPr>
              <a:t> radius = float(input("Enter circle radius: "))</a:t>
            </a:r>
          </a:p>
          <a:p>
            <a:r>
              <a:rPr lang="en-US" dirty="0">
                <a:solidFill>
                  <a:srgbClr val="B4FFB4"/>
                </a:solidFill>
              </a:rPr>
              <a:t> </a:t>
            </a:r>
          </a:p>
          <a:p>
            <a:r>
              <a:rPr lang="en-US" dirty="0">
                <a:solidFill>
                  <a:srgbClr val="00B0F0"/>
                </a:solidFill>
              </a:rPr>
              <a:t> # Calculate area</a:t>
            </a:r>
          </a:p>
          <a:p>
            <a:r>
              <a:rPr lang="en-US" dirty="0">
                <a:solidFill>
                  <a:srgbClr val="B4FFB4"/>
                </a:solidFill>
              </a:rPr>
              <a:t> area = PI * radius * radius</a:t>
            </a:r>
          </a:p>
          <a:p>
            <a:r>
              <a:rPr lang="en-US" dirty="0">
                <a:solidFill>
                  <a:srgbClr val="B4FFB4"/>
                </a:solidFill>
              </a:rPr>
              <a:t> </a:t>
            </a:r>
          </a:p>
          <a:p>
            <a:r>
              <a:rPr lang="en-US" dirty="0">
                <a:solidFill>
                  <a:srgbClr val="00B0F0"/>
                </a:solidFill>
              </a:rPr>
              <a:t> # Display result</a:t>
            </a:r>
          </a:p>
          <a:p>
            <a:r>
              <a:rPr lang="en-US" dirty="0">
                <a:solidFill>
                  <a:srgbClr val="B4FFB4"/>
                </a:solidFill>
              </a:rPr>
              <a:t> print("Circle area is:", area)</a:t>
            </a:r>
          </a:p>
          <a:p>
            <a:pPr>
              <a:defRPr sz="1400">
                <a:solidFill>
                  <a:srgbClr val="B4FFB4"/>
                </a:solidFill>
                <a:latin typeface="Consolas"/>
              </a:defRPr>
            </a:pPr>
            <a:endParaRPr dirty="0">
              <a:solidFill>
                <a:srgbClr val="B4FF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90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Calculate Average of Four Grades</a:t>
            </a:r>
            <a:endParaRPr lang="ar-IQ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err="1" smtClean="0"/>
              <a:t>Exmaple</a:t>
            </a:r>
            <a:r>
              <a:rPr lang="en-US" sz="7200" dirty="0" smtClean="0"/>
              <a:t> 4</a:t>
            </a:r>
            <a:endParaRPr lang="ar-IQ" sz="7200" dirty="0"/>
          </a:p>
        </p:txBody>
      </p:sp>
    </p:spTree>
    <p:extLst>
      <p:ext uri="{BB962C8B-B14F-4D97-AF65-F5344CB8AC3E}">
        <p14:creationId xmlns:p14="http://schemas.microsoft.com/office/powerpoint/2010/main" val="3385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242">
        <p14:prism/>
      </p:transition>
    </mc:Choice>
    <mc:Fallback xmlns="">
      <p:transition spd="slow" advTm="224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86840" y="450949"/>
            <a:ext cx="7757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0F0"/>
                </a:solidFill>
              </a:defRPr>
            </a:pPr>
            <a:r>
              <a:rPr lang="en-US" dirty="0" smtClean="0"/>
              <a:t>04.</a:t>
            </a:r>
            <a:r>
              <a:rPr lang="en-US" sz="3600" b="1" dirty="0" smtClean="0"/>
              <a:t> </a:t>
            </a:r>
            <a:r>
              <a:rPr lang="en-US" sz="3600" b="1" dirty="0"/>
              <a:t>Calculate Average of Four </a:t>
            </a:r>
            <a:r>
              <a:rPr lang="en-US" sz="3600" b="1" dirty="0" smtClean="0"/>
              <a:t>Grades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 smtClean="0"/>
              <a:t>• Handling 4 Variables.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 smtClean="0"/>
              <a:t>• Cumulative Sum.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 smtClean="0"/>
              <a:t>• Average Calculation.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42976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41148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 smtClean="0">
              <a:solidFill>
                <a:srgbClr val="B4FFB4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 # Read grades from user</a:t>
            </a:r>
          </a:p>
          <a:p>
            <a:r>
              <a:rPr lang="en-US" dirty="0">
                <a:solidFill>
                  <a:srgbClr val="B4FFB4"/>
                </a:solidFill>
              </a:rPr>
              <a:t> grade1 = float(input("Enter grade 1: "))</a:t>
            </a:r>
          </a:p>
          <a:p>
            <a:r>
              <a:rPr lang="en-US" dirty="0">
                <a:solidFill>
                  <a:srgbClr val="B4FFB4"/>
                </a:solidFill>
              </a:rPr>
              <a:t> grade2 = float(input("Enter grade 2: "))</a:t>
            </a:r>
          </a:p>
          <a:p>
            <a:r>
              <a:rPr lang="en-US" dirty="0">
                <a:solidFill>
                  <a:srgbClr val="B4FFB4"/>
                </a:solidFill>
              </a:rPr>
              <a:t> grade3 = float(input("Enter grade 3: "))</a:t>
            </a:r>
          </a:p>
          <a:p>
            <a:r>
              <a:rPr lang="en-US" dirty="0">
                <a:solidFill>
                  <a:srgbClr val="B4FFB4"/>
                </a:solidFill>
              </a:rPr>
              <a:t> grade4 = float(input("Enter grade 4: "))</a:t>
            </a:r>
          </a:p>
          <a:p>
            <a:r>
              <a:rPr lang="en-US" dirty="0">
                <a:solidFill>
                  <a:srgbClr val="B4FFB4"/>
                </a:solidFill>
              </a:rPr>
              <a:t> </a:t>
            </a:r>
          </a:p>
          <a:p>
            <a:r>
              <a:rPr lang="en-US" dirty="0">
                <a:solidFill>
                  <a:srgbClr val="00B0F0"/>
                </a:solidFill>
              </a:rPr>
              <a:t> # Calculate sum</a:t>
            </a:r>
          </a:p>
          <a:p>
            <a:r>
              <a:rPr lang="en-US" dirty="0">
                <a:solidFill>
                  <a:srgbClr val="B4FFB4"/>
                </a:solidFill>
              </a:rPr>
              <a:t> total = grade1 + grade2 + grade3 + grade4</a:t>
            </a:r>
          </a:p>
          <a:p>
            <a:r>
              <a:rPr lang="en-US" dirty="0">
                <a:solidFill>
                  <a:srgbClr val="B4FFB4"/>
                </a:solidFill>
              </a:rPr>
              <a:t> </a:t>
            </a:r>
          </a:p>
          <a:p>
            <a:r>
              <a:rPr lang="en-US" dirty="0">
                <a:solidFill>
                  <a:srgbClr val="00B0F0"/>
                </a:solidFill>
              </a:rPr>
              <a:t> # Calculate average</a:t>
            </a:r>
          </a:p>
          <a:p>
            <a:r>
              <a:rPr lang="en-US" dirty="0">
                <a:solidFill>
                  <a:srgbClr val="B4FFB4"/>
                </a:solidFill>
              </a:rPr>
              <a:t> average = total / 4</a:t>
            </a:r>
          </a:p>
          <a:p>
            <a:r>
              <a:rPr lang="en-US" dirty="0">
                <a:solidFill>
                  <a:srgbClr val="B4FFB4"/>
                </a:solidFill>
              </a:rPr>
              <a:t> </a:t>
            </a:r>
          </a:p>
          <a:p>
            <a:r>
              <a:rPr lang="en-US" dirty="0">
                <a:solidFill>
                  <a:srgbClr val="00B0F0"/>
                </a:solidFill>
              </a:rPr>
              <a:t> # Display results</a:t>
            </a:r>
          </a:p>
          <a:p>
            <a:r>
              <a:rPr lang="en-US" dirty="0">
                <a:solidFill>
                  <a:srgbClr val="B4FFB4"/>
                </a:solidFill>
              </a:rPr>
              <a:t> print("Total:", total)</a:t>
            </a:r>
          </a:p>
          <a:p>
            <a:r>
              <a:rPr lang="en-US" dirty="0">
                <a:solidFill>
                  <a:srgbClr val="B4FFB4"/>
                </a:solidFill>
              </a:rPr>
              <a:t> print("Average:", average)</a:t>
            </a:r>
          </a:p>
          <a:p>
            <a:pPr>
              <a:defRPr sz="1400">
                <a:solidFill>
                  <a:srgbClr val="B4FFB4"/>
                </a:solidFill>
                <a:latin typeface="Consolas"/>
              </a:defRPr>
            </a:pPr>
            <a:endParaRPr dirty="0">
              <a:solidFill>
                <a:srgbClr val="B4FF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08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Convert Meters to Centimeters</a:t>
            </a:r>
            <a:endParaRPr lang="ar-IQ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err="1" smtClean="0"/>
              <a:t>Exmaple</a:t>
            </a:r>
            <a:r>
              <a:rPr lang="en-US" sz="7200" dirty="0" smtClean="0"/>
              <a:t> 5</a:t>
            </a:r>
            <a:endParaRPr lang="ar-IQ" sz="7200" dirty="0"/>
          </a:p>
        </p:txBody>
      </p:sp>
    </p:spTree>
    <p:extLst>
      <p:ext uri="{BB962C8B-B14F-4D97-AF65-F5344CB8AC3E}">
        <p14:creationId xmlns:p14="http://schemas.microsoft.com/office/powerpoint/2010/main" val="130914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242">
        <p14:prism/>
      </p:transition>
    </mc:Choice>
    <mc:Fallback xmlns="">
      <p:transition spd="slow" advTm="224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86840" y="725269"/>
            <a:ext cx="76738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0F0"/>
                </a:solidFill>
              </a:defRPr>
            </a:pPr>
            <a:r>
              <a:rPr lang="en-US" dirty="0" smtClean="0"/>
              <a:t>05.</a:t>
            </a:r>
            <a:r>
              <a:rPr lang="en-US" sz="3600" b="1" dirty="0" smtClean="0"/>
              <a:t> </a:t>
            </a:r>
            <a:r>
              <a:rPr lang="en-US" sz="3600" b="1" dirty="0"/>
              <a:t>Convert Meters to Centimeters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/>
              <a:t>• </a:t>
            </a:r>
            <a:r>
              <a:rPr lang="en-US" dirty="0" smtClean="0"/>
              <a:t>Fixed </a:t>
            </a:r>
            <a:r>
              <a:rPr lang="en-US" dirty="0"/>
              <a:t>Conversion Factor.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/>
              <a:t>• Meters to Centimeters.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/>
              <a:t>• Scalar multiplication.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4297680" cy="4572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41148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 smtClean="0">
              <a:solidFill>
                <a:srgbClr val="B4FFB4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# Constant (conversion factor)</a:t>
            </a:r>
          </a:p>
          <a:p>
            <a:r>
              <a:rPr lang="en-US" dirty="0">
                <a:solidFill>
                  <a:srgbClr val="B4FFB4"/>
                </a:solidFill>
              </a:rPr>
              <a:t> CM_PER_METER = </a:t>
            </a:r>
            <a:r>
              <a:rPr lang="en-US" dirty="0" smtClean="0">
                <a:solidFill>
                  <a:srgbClr val="B4FFB4"/>
                </a:solidFill>
              </a:rPr>
              <a:t>100</a:t>
            </a:r>
            <a:endParaRPr lang="en-US" dirty="0">
              <a:solidFill>
                <a:srgbClr val="B4FFB4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 # Read value in meters from user</a:t>
            </a:r>
          </a:p>
          <a:p>
            <a:r>
              <a:rPr lang="en-US" dirty="0">
                <a:solidFill>
                  <a:srgbClr val="B4FFB4"/>
                </a:solidFill>
              </a:rPr>
              <a:t> </a:t>
            </a:r>
            <a:r>
              <a:rPr lang="en-US" dirty="0" err="1">
                <a:solidFill>
                  <a:srgbClr val="B4FFB4"/>
                </a:solidFill>
              </a:rPr>
              <a:t>value_in_meters</a:t>
            </a:r>
            <a:r>
              <a:rPr lang="en-US" dirty="0">
                <a:solidFill>
                  <a:srgbClr val="B4FFB4"/>
                </a:solidFill>
              </a:rPr>
              <a:t> = float(input("Enter value in  meters:      </a:t>
            </a:r>
            <a:r>
              <a:rPr lang="en-US" dirty="0" smtClean="0">
                <a:solidFill>
                  <a:srgbClr val="B4FFB4"/>
                </a:solidFill>
              </a:rPr>
              <a:t>"))</a:t>
            </a:r>
            <a:endParaRPr lang="en-US" dirty="0">
              <a:solidFill>
                <a:srgbClr val="B4FFB4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 # Convert to centimeters</a:t>
            </a:r>
          </a:p>
          <a:p>
            <a:r>
              <a:rPr lang="en-US" dirty="0">
                <a:solidFill>
                  <a:srgbClr val="B4FFB4"/>
                </a:solidFill>
              </a:rPr>
              <a:t> </a:t>
            </a:r>
            <a:r>
              <a:rPr lang="en-US" dirty="0" err="1">
                <a:solidFill>
                  <a:srgbClr val="B4FFB4"/>
                </a:solidFill>
              </a:rPr>
              <a:t>value_in_cm</a:t>
            </a:r>
            <a:r>
              <a:rPr lang="en-US" dirty="0">
                <a:solidFill>
                  <a:srgbClr val="B4FFB4"/>
                </a:solidFill>
              </a:rPr>
              <a:t> = </a:t>
            </a:r>
            <a:r>
              <a:rPr lang="en-US" dirty="0" err="1">
                <a:solidFill>
                  <a:srgbClr val="B4FFB4"/>
                </a:solidFill>
              </a:rPr>
              <a:t>value_in_meters</a:t>
            </a:r>
            <a:r>
              <a:rPr lang="en-US" dirty="0">
                <a:solidFill>
                  <a:srgbClr val="B4FFB4"/>
                </a:solidFill>
              </a:rPr>
              <a:t> * </a:t>
            </a:r>
            <a:r>
              <a:rPr lang="en-US" dirty="0" smtClean="0">
                <a:solidFill>
                  <a:srgbClr val="B4FFB4"/>
                </a:solidFill>
              </a:rPr>
              <a:t>CM_PER_METER</a:t>
            </a:r>
            <a:endParaRPr lang="en-US" dirty="0">
              <a:solidFill>
                <a:srgbClr val="B4FFB4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 # Display result</a:t>
            </a:r>
          </a:p>
          <a:p>
            <a:r>
              <a:rPr lang="en-US" dirty="0">
                <a:solidFill>
                  <a:srgbClr val="B4FFB4"/>
                </a:solidFill>
              </a:rPr>
              <a:t> print("Value in centimeters:", </a:t>
            </a:r>
            <a:r>
              <a:rPr lang="en-US" dirty="0" err="1">
                <a:solidFill>
                  <a:srgbClr val="B4FFB4"/>
                </a:solidFill>
              </a:rPr>
              <a:t>value_in_cm</a:t>
            </a:r>
            <a:r>
              <a:rPr lang="en-US" dirty="0" smtClean="0">
                <a:solidFill>
                  <a:srgbClr val="B4FFB4"/>
                </a:solidFill>
              </a:rPr>
              <a:t>)</a:t>
            </a:r>
            <a:endParaRPr lang="en-US" dirty="0">
              <a:solidFill>
                <a:srgbClr val="B4FF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42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0134" y="197068"/>
            <a:ext cx="863738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Exercises:</a:t>
            </a:r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ar-IQ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0133" y="720288"/>
            <a:ext cx="8637383" cy="33239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latinLnBrk="1"/>
            <a:r>
              <a:rPr lang="en-US" b="1" dirty="0" smtClean="0">
                <a:solidFill>
                  <a:schemeClr val="bg1"/>
                </a:solidFill>
              </a:rPr>
              <a:t>1- Change </a:t>
            </a:r>
            <a:r>
              <a:rPr lang="en-US" b="1" dirty="0">
                <a:solidFill>
                  <a:schemeClr val="bg1"/>
                </a:solidFill>
              </a:rPr>
              <a:t>the (hello world program) to output the </a:t>
            </a:r>
            <a:r>
              <a:rPr lang="en-US" b="1" dirty="0" smtClean="0">
                <a:solidFill>
                  <a:schemeClr val="bg1"/>
                </a:solidFill>
              </a:rPr>
              <a:t>two </a:t>
            </a:r>
            <a:r>
              <a:rPr lang="en-US" b="1" dirty="0">
                <a:solidFill>
                  <a:schemeClr val="bg1"/>
                </a:solidFill>
              </a:rPr>
              <a:t>lines?</a:t>
            </a:r>
            <a:endParaRPr lang="en-US" dirty="0">
              <a:solidFill>
                <a:schemeClr val="bg1"/>
              </a:solidFill>
            </a:endParaRPr>
          </a:p>
          <a:p>
            <a:pPr latinLnBrk="1"/>
            <a:r>
              <a:rPr lang="en-US" b="1" dirty="0">
                <a:solidFill>
                  <a:schemeClr val="bg1"/>
                </a:solidFill>
              </a:rPr>
              <a:t>	</a:t>
            </a:r>
            <a:endParaRPr lang="en-US" dirty="0">
              <a:solidFill>
                <a:schemeClr val="bg1"/>
              </a:solidFill>
            </a:endParaRPr>
          </a:p>
          <a:p>
            <a:pPr latinLnBrk="1"/>
            <a:r>
              <a:rPr lang="en-US" b="1" dirty="0">
                <a:solidFill>
                  <a:schemeClr val="bg1"/>
                </a:solidFill>
              </a:rPr>
              <a:t> </a:t>
            </a:r>
            <a:endParaRPr lang="en-US" dirty="0">
              <a:solidFill>
                <a:schemeClr val="bg1"/>
              </a:solidFill>
            </a:endParaRPr>
          </a:p>
          <a:p>
            <a:pPr lvl="0" latinLnBrk="1"/>
            <a:endParaRPr lang="en-US" b="1" dirty="0" smtClean="0">
              <a:solidFill>
                <a:schemeClr val="bg1"/>
              </a:solidFill>
            </a:endParaRPr>
          </a:p>
          <a:p>
            <a:pPr lvl="0" latinLnBrk="1"/>
            <a:endParaRPr lang="en-US" b="1" dirty="0">
              <a:solidFill>
                <a:schemeClr val="bg1"/>
              </a:solidFill>
            </a:endParaRPr>
          </a:p>
          <a:p>
            <a:pPr lvl="0" latinLnBrk="1"/>
            <a:endParaRPr lang="en-US" b="1" dirty="0" smtClean="0">
              <a:solidFill>
                <a:schemeClr val="bg1"/>
              </a:solidFill>
            </a:endParaRPr>
          </a:p>
          <a:p>
            <a:pPr lvl="0" latinLnBrk="1"/>
            <a:r>
              <a:rPr lang="en-US" b="1" dirty="0" smtClean="0">
                <a:solidFill>
                  <a:schemeClr val="bg1"/>
                </a:solidFill>
              </a:rPr>
              <a:t>2- write </a:t>
            </a:r>
            <a:r>
              <a:rPr lang="en-US" b="1" dirty="0">
                <a:solidFill>
                  <a:schemeClr val="bg1"/>
                </a:solidFill>
              </a:rPr>
              <a:t>a python program to calculate the area of a </a:t>
            </a:r>
            <a:endParaRPr lang="en-US" dirty="0">
              <a:solidFill>
                <a:schemeClr val="bg1"/>
              </a:solidFill>
            </a:endParaRPr>
          </a:p>
          <a:p>
            <a:pPr latinLnBrk="1"/>
            <a:r>
              <a:rPr lang="en-US" b="1" dirty="0">
                <a:solidFill>
                  <a:schemeClr val="bg1"/>
                </a:solidFill>
              </a:rPr>
              <a:t>Rectangle, and take width and length from the user </a:t>
            </a:r>
            <a:endParaRPr lang="en-US" dirty="0">
              <a:solidFill>
                <a:schemeClr val="bg1"/>
              </a:solidFill>
            </a:endParaRPr>
          </a:p>
          <a:p>
            <a:pPr latinLnBrk="1"/>
            <a:r>
              <a:rPr lang="en-US" b="1" dirty="0">
                <a:solidFill>
                  <a:schemeClr val="bg1"/>
                </a:solidFill>
              </a:rPr>
              <a:t>(Area of a rectangle = width * length)</a:t>
            </a:r>
            <a:endParaRPr lang="en-US" dirty="0">
              <a:solidFill>
                <a:schemeClr val="bg1"/>
              </a:solidFill>
            </a:endParaRPr>
          </a:p>
          <a:p>
            <a:pPr latinLnBrk="1"/>
            <a:r>
              <a:rPr lang="en-US" b="1" dirty="0">
                <a:solidFill>
                  <a:schemeClr val="bg1"/>
                </a:solidFill>
              </a:rPr>
              <a:t> </a:t>
            </a:r>
            <a:endParaRPr lang="en-US" dirty="0">
              <a:solidFill>
                <a:schemeClr val="bg1"/>
              </a:solidFill>
            </a:endParaRPr>
          </a:p>
          <a:p>
            <a:pPr lvl="0" latinLnBrk="1"/>
            <a:r>
              <a:rPr lang="en-US" b="1" dirty="0">
                <a:solidFill>
                  <a:schemeClr val="bg1"/>
                </a:solidFill>
              </a:rPr>
              <a:t>3</a:t>
            </a:r>
            <a:r>
              <a:rPr lang="en-US" b="1" dirty="0" smtClean="0">
                <a:solidFill>
                  <a:schemeClr val="bg1"/>
                </a:solidFill>
              </a:rPr>
              <a:t>- write </a:t>
            </a:r>
            <a:r>
              <a:rPr lang="en-US" b="1" dirty="0">
                <a:solidFill>
                  <a:schemeClr val="bg1"/>
                </a:solidFill>
              </a:rPr>
              <a:t>program to calculate age from birth date from user input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 </a:t>
            </a:r>
            <a:endParaRPr lang="en-US" dirty="0">
              <a:solidFill>
                <a:schemeClr val="bg1"/>
              </a:solidFill>
            </a:endParaRPr>
          </a:p>
          <a:p>
            <a:pPr lvl="0" latinLnBrk="1"/>
            <a:r>
              <a:rPr lang="en-US" b="1" dirty="0" smtClean="0">
                <a:solidFill>
                  <a:schemeClr val="bg1"/>
                </a:solidFill>
              </a:rPr>
              <a:t>4- Write </a:t>
            </a:r>
            <a:r>
              <a:rPr lang="en-US" b="1" dirty="0">
                <a:solidFill>
                  <a:schemeClr val="bg1"/>
                </a:solidFill>
              </a:rPr>
              <a:t>a program in python that converts from miles to kilometers. Your program should have a </a:t>
            </a:r>
            <a:r>
              <a:rPr lang="en-US" b="1" dirty="0" smtClean="0">
                <a:solidFill>
                  <a:schemeClr val="bg1"/>
                </a:solidFill>
              </a:rPr>
              <a:t>    reasonable prompt </a:t>
            </a:r>
            <a:r>
              <a:rPr lang="en-US" b="1" dirty="0">
                <a:solidFill>
                  <a:schemeClr val="bg1"/>
                </a:solidFill>
              </a:rPr>
              <a:t>for the user to enter a number of miles. Hint: There are 1.609 kilometers to the </a:t>
            </a:r>
            <a:r>
              <a:rPr lang="en-US" b="1" dirty="0" smtClean="0">
                <a:solidFill>
                  <a:schemeClr val="bg1"/>
                </a:solidFill>
              </a:rPr>
              <a:t>  mile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1960" y="1045060"/>
            <a:ext cx="2895600" cy="70754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358" y="1137220"/>
            <a:ext cx="2651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Hello, programmers!</a:t>
            </a:r>
          </a:p>
          <a:p>
            <a:r>
              <a:rPr lang="en-US" dirty="0">
                <a:solidFill>
                  <a:schemeClr val="bg1"/>
                </a:solidFill>
              </a:rPr>
              <a:t>we are learn python</a:t>
            </a:r>
          </a:p>
        </p:txBody>
      </p:sp>
    </p:spTree>
    <p:extLst>
      <p:ext uri="{BB962C8B-B14F-4D97-AF65-F5344CB8AC3E}">
        <p14:creationId xmlns:p14="http://schemas.microsoft.com/office/powerpoint/2010/main" val="33230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1700" y="1847850"/>
            <a:ext cx="8520600" cy="1382700"/>
          </a:xfrm>
        </p:spPr>
        <p:txBody>
          <a:bodyPr/>
          <a:lstStyle/>
          <a:p>
            <a:r>
              <a:rPr lang="en-US" sz="7200" dirty="0" smtClean="0">
                <a:solidFill>
                  <a:schemeClr val="bg2"/>
                </a:solidFill>
              </a:rPr>
              <a:t>Thank you</a:t>
            </a:r>
            <a:endParaRPr lang="en-US" sz="7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88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13605</TotalTime>
  <Words>515</Words>
  <Application>Microsoft Office PowerPoint</Application>
  <PresentationFormat>On-screen Show (16:9)</PresentationFormat>
  <Paragraphs>103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Cairo</vt:lpstr>
      <vt:lpstr>Overpass Mono</vt:lpstr>
      <vt:lpstr>Anaheim</vt:lpstr>
      <vt:lpstr>Consolas</vt:lpstr>
      <vt:lpstr>Arial</vt:lpstr>
      <vt:lpstr>Programming Lesson by Slidesgo</vt:lpstr>
      <vt:lpstr>programming</vt:lpstr>
      <vt:lpstr>Exmaple 1</vt:lpstr>
      <vt:lpstr>PowerPoint Presentation</vt:lpstr>
      <vt:lpstr>Exmaple 2</vt:lpstr>
      <vt:lpstr>PowerPoint Presentation</vt:lpstr>
      <vt:lpstr>Exmaple 3</vt:lpstr>
      <vt:lpstr>PowerPoint Presentation</vt:lpstr>
      <vt:lpstr>Exmaple 4</vt:lpstr>
      <vt:lpstr>PowerPoint Presentation</vt:lpstr>
      <vt:lpstr>Exmaple 5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أساسيات البرمجة</dc:title>
  <dc:creator>jaafar</dc:creator>
  <cp:lastModifiedBy>Ali Jalil</cp:lastModifiedBy>
  <cp:revision>359</cp:revision>
  <dcterms:modified xsi:type="dcterms:W3CDTF">2026-02-08T10:22:10Z</dcterms:modified>
</cp:coreProperties>
</file>